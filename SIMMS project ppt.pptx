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5"/>
  </p:notesMasterIdLst>
  <p:sldIdLst>
    <p:sldId id="280" r:id="rId2"/>
    <p:sldId id="283" r:id="rId3"/>
    <p:sldId id="281" r:id="rId4"/>
    <p:sldId id="288" r:id="rId5"/>
    <p:sldId id="287" r:id="rId6"/>
    <p:sldId id="290" r:id="rId7"/>
    <p:sldId id="291" r:id="rId8"/>
    <p:sldId id="294" r:id="rId9"/>
    <p:sldId id="293" r:id="rId10"/>
    <p:sldId id="289" r:id="rId11"/>
    <p:sldId id="295" r:id="rId12"/>
    <p:sldId id="292" r:id="rId13"/>
    <p:sldId id="285"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705056E-4027-4A1A-BAC7-DAD1F1201FD9}">
          <p14:sldIdLst>
            <p14:sldId id="280"/>
            <p14:sldId id="283"/>
            <p14:sldId id="281"/>
            <p14:sldId id="288"/>
            <p14:sldId id="287"/>
            <p14:sldId id="290"/>
            <p14:sldId id="291"/>
            <p14:sldId id="294"/>
            <p14:sldId id="293"/>
            <p14:sldId id="289"/>
            <p14:sldId id="295"/>
            <p14:sldId id="292"/>
            <p14:sldId id="28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13ADEF-1232-40E6-AA0C-2DC4E3D89003}" type="datetimeFigureOut">
              <a:rPr lang="en-GB" smtClean="0"/>
              <a:pPr/>
              <a:t>30/05/2024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5E719B-CAD1-4CDF-AC07-FD62E51C143C}" type="slidenum">
              <a:rPr lang="en-GB" smtClean="0"/>
              <a:pPr/>
              <a:t>‹#›</a:t>
            </a:fld>
            <a:endParaRPr lang="en-GB"/>
          </a:p>
        </p:txBody>
      </p:sp>
    </p:spTree>
    <p:extLst>
      <p:ext uri="{BB962C8B-B14F-4D97-AF65-F5344CB8AC3E}">
        <p14:creationId xmlns:p14="http://schemas.microsoft.com/office/powerpoint/2010/main" val="3977812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2</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3</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4</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5</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6</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3634811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7</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1202346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8</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35431178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9</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2689227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10</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11</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2091967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12</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3276075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13</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3EE43D5-2594-4735-80B7-F0E4544112AC}" type="datetime1">
              <a:rPr lang="en-GB" smtClean="0"/>
              <a:t>30/05/2024</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33F980D-9641-4D55-BA26-2EDCEA9EE1F9}" type="datetime1">
              <a:rPr lang="en-GB" smtClean="0"/>
              <a:t>30/05/2024</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2637F8-03A0-4970-9A0A-BCE5C1C1EC0E}" type="datetime1">
              <a:rPr lang="en-GB" smtClean="0"/>
              <a:t>30/05/2024</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AAD62D7-D6ED-44F8-A2FC-AD370DF5A044}" type="datetime1">
              <a:rPr lang="en-GB" smtClean="0"/>
              <a:t>30/05/2024</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A74D6229-4D31-4440-844B-D28A91210DCE}" type="datetime1">
              <a:rPr lang="en-GB" smtClean="0"/>
              <a:t>30/05/2024</a:t>
            </a:fld>
            <a:endParaRPr lang="en-GB"/>
          </a:p>
        </p:txBody>
      </p:sp>
      <p:sp>
        <p:nvSpPr>
          <p:cNvPr id="8" name="Footer Placeholder 7"/>
          <p:cNvSpPr>
            <a:spLocks noGrp="1"/>
          </p:cNvSpPr>
          <p:nvPr>
            <p:ph type="ftr" sz="quarter" idx="11"/>
          </p:nvPr>
        </p:nvSpPr>
        <p:spPr/>
        <p:txBody>
          <a:bodyPr/>
          <a:lstStyle/>
          <a:p>
            <a:r>
              <a:rPr lang="en-GB"/>
              <a:t>ICIMSI-2021</a:t>
            </a:r>
          </a:p>
        </p:txBody>
      </p:sp>
      <p:sp>
        <p:nvSpPr>
          <p:cNvPr id="9" name="Slide Number Placeholder 8"/>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6EB690D-B474-4F2D-8063-C3D6525BFDB7}" type="datetime1">
              <a:rPr lang="en-GB" smtClean="0"/>
              <a:t>30/05/2024</a:t>
            </a:fld>
            <a:endParaRPr lang="en-GB"/>
          </a:p>
        </p:txBody>
      </p:sp>
      <p:sp>
        <p:nvSpPr>
          <p:cNvPr id="4" name="Footer Placeholder 3"/>
          <p:cNvSpPr>
            <a:spLocks noGrp="1"/>
          </p:cNvSpPr>
          <p:nvPr>
            <p:ph type="ftr" sz="quarter" idx="11"/>
          </p:nvPr>
        </p:nvSpPr>
        <p:spPr/>
        <p:txBody>
          <a:bodyPr/>
          <a:lstStyle/>
          <a:p>
            <a:r>
              <a:rPr lang="en-GB"/>
              <a:t>ICIMSI-2021</a:t>
            </a:r>
          </a:p>
        </p:txBody>
      </p:sp>
      <p:sp>
        <p:nvSpPr>
          <p:cNvPr id="5" name="Slide Number Placeholder 4"/>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5D96AC-A833-40E3-8856-0B511BFD0B34}" type="datetime1">
              <a:rPr lang="en-GB" smtClean="0"/>
              <a:t>30/05/2024</a:t>
            </a:fld>
            <a:endParaRPr lang="en-GB"/>
          </a:p>
        </p:txBody>
      </p:sp>
      <p:sp>
        <p:nvSpPr>
          <p:cNvPr id="3" name="Footer Placeholder 2"/>
          <p:cNvSpPr>
            <a:spLocks noGrp="1"/>
          </p:cNvSpPr>
          <p:nvPr>
            <p:ph type="ftr" sz="quarter" idx="11"/>
          </p:nvPr>
        </p:nvSpPr>
        <p:spPr/>
        <p:txBody>
          <a:bodyPr/>
          <a:lstStyle/>
          <a:p>
            <a:r>
              <a:rPr lang="en-GB"/>
              <a:t>ICIMSI-2021</a:t>
            </a:r>
          </a:p>
        </p:txBody>
      </p:sp>
      <p:sp>
        <p:nvSpPr>
          <p:cNvPr id="4" name="Slide Number Placeholder 3"/>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20C083-5B51-4A6F-8A8D-25BF65281288}" type="datetime1">
              <a:rPr lang="en-GB" smtClean="0"/>
              <a:t>30/05/2024</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58CEF-DEAA-4FD7-A123-4034F0FFBE51}" type="datetime1">
              <a:rPr lang="en-GB" smtClean="0"/>
              <a:t>30/05/2024</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90ED07B-0D58-4238-8D9E-3917EDEFBF11}" type="datetime1">
              <a:rPr lang="en-GB" smtClean="0"/>
              <a:t>30/05/2024</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15D4D9-60EA-4115-9F62-3D25530A60C4}" type="datetime1">
              <a:rPr lang="en-GB" smtClean="0"/>
              <a:t>30/05/2024</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3102E-B0BC-4EBE-905A-EE89488B9FC5}" type="datetime1">
              <a:rPr lang="en-GB" smtClean="0"/>
              <a:t>30/05/2024</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ICIMSI-2021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C248AB-E565-412B-9D95-9B07D6A4F3F3}"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a:t>
            </a:fld>
            <a:endParaRPr lang="en-GB" b="1" dirty="0">
              <a:solidFill>
                <a:schemeClr val="tx1"/>
              </a:solidFill>
            </a:endParaRPr>
          </a:p>
        </p:txBody>
      </p:sp>
      <p:sp>
        <p:nvSpPr>
          <p:cNvPr id="4" name="TextBox 3"/>
          <p:cNvSpPr txBox="1"/>
          <p:nvPr/>
        </p:nvSpPr>
        <p:spPr>
          <a:xfrm>
            <a:off x="611560" y="1484783"/>
            <a:ext cx="8075240" cy="4616648"/>
          </a:xfrm>
          <a:prstGeom prst="rect">
            <a:avLst/>
          </a:prstGeom>
          <a:noFill/>
        </p:spPr>
        <p:txBody>
          <a:bodyPr wrap="square" rtlCol="0">
            <a:spAutoFit/>
          </a:bodyPr>
          <a:lstStyle/>
          <a:p>
            <a:pPr algn="ctr"/>
            <a:endParaRPr lang="en-US" dirty="0"/>
          </a:p>
          <a:p>
            <a:pPr algn="ctr"/>
            <a:r>
              <a:rPr lang="en-US" sz="2000" b="1" dirty="0">
                <a:latin typeface="Times New Roman" panose="02020603050405020304" pitchFamily="18" charset="0"/>
                <a:cs typeface="Times New Roman" panose="02020603050405020304" pitchFamily="18" charset="0"/>
              </a:rPr>
              <a:t>Presentation on:</a:t>
            </a:r>
          </a:p>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Smart Industrial Machine Monitoring System(SIMMS)</a:t>
            </a:r>
          </a:p>
          <a:p>
            <a:pPr algn="ctr"/>
            <a:endParaRPr lang="en-US" b="1"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By</a:t>
            </a:r>
          </a:p>
          <a:p>
            <a:pPr algn="ctr"/>
            <a:r>
              <a:rPr lang="en-US" b="1" dirty="0">
                <a:latin typeface="Times New Roman" panose="02020603050405020304" pitchFamily="18" charset="0"/>
                <a:cs typeface="Times New Roman" panose="02020603050405020304" pitchFamily="18" charset="0"/>
              </a:rPr>
              <a:t>Shruti Jadhav(38)</a:t>
            </a:r>
          </a:p>
          <a:p>
            <a:pPr algn="ctr"/>
            <a:r>
              <a:rPr lang="en-US" b="1" dirty="0">
                <a:latin typeface="Times New Roman" panose="02020603050405020304" pitchFamily="18" charset="0"/>
                <a:cs typeface="Times New Roman" panose="02020603050405020304" pitchFamily="18" charset="0"/>
              </a:rPr>
              <a:t>Arpita Phalke(43)</a:t>
            </a:r>
          </a:p>
          <a:p>
            <a:pPr algn="ctr"/>
            <a:r>
              <a:rPr lang="en-US" b="1" dirty="0">
                <a:latin typeface="Times New Roman" panose="02020603050405020304" pitchFamily="18" charset="0"/>
                <a:cs typeface="Times New Roman" panose="02020603050405020304" pitchFamily="18" charset="0"/>
              </a:rPr>
              <a:t>Kirti </a:t>
            </a:r>
            <a:r>
              <a:rPr lang="en-US" b="1" dirty="0" err="1">
                <a:latin typeface="Times New Roman" panose="02020603050405020304" pitchFamily="18" charset="0"/>
                <a:cs typeface="Times New Roman" panose="02020603050405020304" pitchFamily="18" charset="0"/>
              </a:rPr>
              <a:t>Rachkar</a:t>
            </a:r>
            <a:r>
              <a:rPr lang="en-US" b="1" dirty="0">
                <a:latin typeface="Times New Roman" panose="02020603050405020304" pitchFamily="18" charset="0"/>
                <a:cs typeface="Times New Roman" panose="02020603050405020304" pitchFamily="18" charset="0"/>
              </a:rPr>
              <a:t>(47)</a:t>
            </a:r>
          </a:p>
          <a:p>
            <a:pPr algn="ctr"/>
            <a:endParaRPr lang="en-US" b="1"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Mrs. Priyanka Vyas</a:t>
            </a:r>
          </a:p>
          <a:p>
            <a:pPr algn="ctr"/>
            <a:r>
              <a:rPr lang="en-US" b="1" dirty="0">
                <a:latin typeface="Times New Roman" panose="02020603050405020304" pitchFamily="18" charset="0"/>
                <a:cs typeface="Times New Roman" panose="02020603050405020304" pitchFamily="18" charset="0"/>
              </a:rPr>
              <a:t>Guide Name</a:t>
            </a:r>
          </a:p>
          <a:p>
            <a:pPr algn="ctr"/>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Department of Computer Science </a:t>
            </a:r>
            <a:r>
              <a:rPr lang="en-US" b="1" dirty="0" err="1">
                <a:latin typeface="Times New Roman" panose="02020603050405020304" pitchFamily="18" charset="0"/>
                <a:cs typeface="Times New Roman" panose="02020603050405020304" pitchFamily="18" charset="0"/>
              </a:rPr>
              <a:t>Engg</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Aritificial</a:t>
            </a:r>
            <a:r>
              <a:rPr lang="en-US" b="1" dirty="0">
                <a:latin typeface="Times New Roman" panose="02020603050405020304" pitchFamily="18" charset="0"/>
                <a:cs typeface="Times New Roman" panose="02020603050405020304" pitchFamily="18" charset="0"/>
              </a:rPr>
              <a:t> Intelligence</a:t>
            </a:r>
          </a:p>
          <a:p>
            <a:pPr algn="ctr"/>
            <a:endParaRPr lang="en-US" dirty="0"/>
          </a:p>
          <a:p>
            <a:endParaRPr lang="en-US" dirty="0"/>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p:cNvSpPr>
            <a:spLocks noGrp="1"/>
          </p:cNvSpPr>
          <p:nvPr>
            <p:ph type="dt" sz="half" idx="10"/>
          </p:nvPr>
        </p:nvSpPr>
        <p:spPr>
          <a:xfrm>
            <a:off x="323528" y="6160219"/>
            <a:ext cx="3178696" cy="365125"/>
          </a:xfrm>
        </p:spPr>
        <p:txBody>
          <a:bodyPr/>
          <a:lstStyle/>
          <a:p>
            <a:r>
              <a:rPr lang="en-IN" sz="1600" dirty="0">
                <a:solidFill>
                  <a:schemeClr val="tx1"/>
                </a:solidFill>
              </a:rPr>
              <a:t>Thursday</a:t>
            </a:r>
            <a:r>
              <a:rPr lang="en-GB" sz="1600" dirty="0">
                <a:solidFill>
                  <a:schemeClr val="tx1"/>
                </a:solidFill>
              </a:rPr>
              <a:t>, 30 May 2024</a:t>
            </a:r>
          </a:p>
        </p:txBody>
      </p:sp>
    </p:spTree>
    <p:extLst>
      <p:ext uri="{BB962C8B-B14F-4D97-AF65-F5344CB8AC3E}">
        <p14:creationId xmlns:p14="http://schemas.microsoft.com/office/powerpoint/2010/main" val="241731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3" name="Content Placeholder 2">
            <a:extLst>
              <a:ext uri="{FF2B5EF4-FFF2-40B4-BE49-F238E27FC236}">
                <a16:creationId xmlns:a16="http://schemas.microsoft.com/office/drawing/2014/main" id="{2D978EB8-5E54-CE27-FBA7-1EE7E9642AB1}"/>
              </a:ext>
            </a:extLst>
          </p:cNvPr>
          <p:cNvSpPr>
            <a:spLocks noGrp="1"/>
          </p:cNvSpPr>
          <p:nvPr>
            <p:ph idx="1"/>
          </p:nvPr>
        </p:nvSpPr>
        <p:spPr>
          <a:xfrm>
            <a:off x="457200" y="1600200"/>
            <a:ext cx="8229600" cy="4756150"/>
          </a:xfrm>
        </p:spPr>
        <p:txBody>
          <a:bodyPr>
            <a:normAutofit/>
          </a:bodyPr>
          <a:lstStyle/>
          <a:p>
            <a:r>
              <a:rPr lang="en-IN" sz="1800" b="1" dirty="0">
                <a:latin typeface="Times New Roman" panose="02020603050405020304" pitchFamily="18" charset="0"/>
                <a:cs typeface="Times New Roman" panose="02020603050405020304" pitchFamily="18" charset="0"/>
              </a:rPr>
              <a:t>Introduction:</a:t>
            </a:r>
          </a:p>
          <a:p>
            <a:pPr algn="just">
              <a:buFont typeface="Courier New" panose="02070309020205020404" pitchFamily="49" charset="0"/>
              <a:buChar char="o"/>
            </a:pPr>
            <a:r>
              <a:rPr lang="en-US" sz="1600" dirty="0">
                <a:solidFill>
                  <a:srgbClr val="0D0D0D"/>
                </a:solidFill>
                <a:latin typeface="Times New Roman" panose="02020603050405020304" pitchFamily="18" charset="0"/>
                <a:cs typeface="Times New Roman" panose="02020603050405020304" pitchFamily="18" charset="0"/>
              </a:rPr>
              <a:t>Industries using machinery often struggle to keep them running smoothly. Traditional monitoring systems don't always provide timely updates, leading to inefficiencies and higher costs. </a:t>
            </a:r>
          </a:p>
          <a:p>
            <a:pPr algn="just">
              <a:buFont typeface="Courier New" panose="02070309020205020404" pitchFamily="49" charset="0"/>
              <a:buChar char="o"/>
            </a:pPr>
            <a:r>
              <a:rPr lang="en-US" sz="1600" dirty="0">
                <a:solidFill>
                  <a:srgbClr val="0D0D0D"/>
                </a:solidFill>
                <a:latin typeface="Times New Roman" panose="02020603050405020304" pitchFamily="18" charset="0"/>
                <a:cs typeface="Times New Roman" panose="02020603050405020304" pitchFamily="18" charset="0"/>
              </a:rPr>
              <a:t>Smart monitoring systems use modern technology to collect real-time data. In our project, we use an Arduino Uno and Bluetooth HC-05 to connect machines to a central system. It then displays the number of completed cycles on a Bluetooth terminal and alerts operators with a buzzer when action is needed. This approach helps improve machine monitoring and overall industrial efficiency.</a:t>
            </a:r>
          </a:p>
          <a:p>
            <a:pPr marL="0" indent="0" algn="just">
              <a:buNone/>
            </a:pPr>
            <a:endParaRPr lang="en-US" sz="1600" dirty="0">
              <a:solidFill>
                <a:srgbClr val="0D0D0D"/>
              </a:solidFill>
              <a:latin typeface="Times New Roman" panose="02020603050405020304" pitchFamily="18" charset="0"/>
              <a:cs typeface="Times New Roman" panose="02020603050405020304" pitchFamily="18" charset="0"/>
            </a:endParaRPr>
          </a:p>
          <a:p>
            <a:pPr marL="0" indent="0" algn="just">
              <a:buNone/>
            </a:pPr>
            <a:endParaRPr lang="en-US" sz="1800" dirty="0">
              <a:solidFill>
                <a:srgbClr val="0D0D0D"/>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2</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727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11" name="Content Placeholder 10">
            <a:extLst>
              <a:ext uri="{FF2B5EF4-FFF2-40B4-BE49-F238E27FC236}">
                <a16:creationId xmlns:a16="http://schemas.microsoft.com/office/drawing/2014/main" id="{FCF332F0-DCD1-833B-2DF7-D00881CEEA3C}"/>
              </a:ext>
            </a:extLst>
          </p:cNvPr>
          <p:cNvSpPr>
            <a:spLocks noGrp="1"/>
          </p:cNvSpPr>
          <p:nvPr>
            <p:ph idx="1"/>
          </p:nvPr>
        </p:nvSpPr>
        <p:spPr>
          <a:xfrm>
            <a:off x="457200" y="1600200"/>
            <a:ext cx="8229600" cy="4983162"/>
          </a:xfrm>
        </p:spPr>
        <p:txBody>
          <a:bodyPr>
            <a:normAutofit/>
          </a:bodyPr>
          <a:lstStyle/>
          <a:p>
            <a:pPr algn="just"/>
            <a:r>
              <a:rPr lang="en-IN" sz="1800" b="1" dirty="0">
                <a:latin typeface="Times New Roman" panose="02020603050405020304" pitchFamily="18" charset="0"/>
                <a:cs typeface="Times New Roman" panose="02020603050405020304" pitchFamily="18" charset="0"/>
              </a:rPr>
              <a:t>Problem Statement:</a:t>
            </a:r>
          </a:p>
          <a:p>
            <a:pPr algn="just">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Industrial operations often struggle with accurately and timely monitoring of machine performance. Traditional monitoring systems lack real-time updates, leading to inefficiencies, increased maintenance costs, and unexpected downtimes.</a:t>
            </a:r>
          </a:p>
          <a:p>
            <a:pPr algn="just">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There is a need for a reliable system that can track machine cycles accurately and alert operators immediately upon the completion of each cycle.</a:t>
            </a:r>
          </a:p>
          <a:p>
            <a:pPr algn="just">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The Smart Industrial Machine Monitoring System aims to address these issues by using modern technology to enhance the monitoring and management of industrial machines.</a:t>
            </a:r>
          </a:p>
          <a:p>
            <a:pPr algn="just">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In various industries such as manufacturing, textile, and food processing smart machine monitoring system will be very useful.</a:t>
            </a:r>
          </a:p>
          <a:p>
            <a:pPr marL="0" indent="0" algn="just">
              <a:buNone/>
            </a:pPr>
            <a:endParaRPr lang="en-US" sz="16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3</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4150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3" name="Content Placeholder 2">
            <a:extLst>
              <a:ext uri="{FF2B5EF4-FFF2-40B4-BE49-F238E27FC236}">
                <a16:creationId xmlns:a16="http://schemas.microsoft.com/office/drawing/2014/main" id="{97073214-3C3F-06AD-074A-05F01AE09282}"/>
              </a:ext>
            </a:extLst>
          </p:cNvPr>
          <p:cNvSpPr>
            <a:spLocks noGrp="1"/>
          </p:cNvSpPr>
          <p:nvPr>
            <p:ph idx="1"/>
          </p:nvPr>
        </p:nvSpPr>
        <p:spPr>
          <a:xfrm>
            <a:off x="457200" y="1600200"/>
            <a:ext cx="8229600" cy="4853136"/>
          </a:xfrm>
        </p:spPr>
        <p:txBody>
          <a:bodyPr>
            <a:normAutofit/>
          </a:bodyPr>
          <a:lstStyle/>
          <a:p>
            <a:pPr algn="just"/>
            <a:r>
              <a:rPr lang="en-IN" sz="1800" b="1" dirty="0">
                <a:latin typeface="Times New Roman" panose="02020603050405020304" pitchFamily="18" charset="0"/>
                <a:cs typeface="Times New Roman" panose="02020603050405020304" pitchFamily="18" charset="0"/>
              </a:rPr>
              <a:t>Objective:</a:t>
            </a:r>
          </a:p>
          <a:p>
            <a:pPr algn="just">
              <a:buFont typeface="Wingdings" panose="05000000000000000000" pitchFamily="2" charset="2"/>
              <a:buChar char="Ø"/>
            </a:pPr>
            <a:r>
              <a:rPr lang="en-US" sz="1600" dirty="0">
                <a:solidFill>
                  <a:srgbClr val="0D0D0D"/>
                </a:solidFill>
                <a:latin typeface="Times New Roman" panose="02020603050405020304" pitchFamily="18" charset="0"/>
                <a:cs typeface="Times New Roman" panose="02020603050405020304" pitchFamily="18" charset="0"/>
              </a:rPr>
              <a:t>Reliable Hardware Connection: Ensure all hardware components (Arduino Uno, breadboard, Bluetooth HC-05, buzzer) are correctly connected and functioning.</a:t>
            </a:r>
          </a:p>
          <a:p>
            <a:pPr algn="just">
              <a:buFont typeface="Wingdings" panose="05000000000000000000" pitchFamily="2" charset="2"/>
              <a:buChar char="Ø"/>
            </a:pPr>
            <a:r>
              <a:rPr lang="en-US" sz="1600" dirty="0">
                <a:solidFill>
                  <a:srgbClr val="0D0D0D"/>
                </a:solidFill>
                <a:latin typeface="Times New Roman" panose="02020603050405020304" pitchFamily="18" charset="0"/>
                <a:cs typeface="Times New Roman" panose="02020603050405020304" pitchFamily="18" charset="0"/>
              </a:rPr>
              <a:t>Accurate Cycle Tracking: Track and record the number of cycles completed by an industrial machine, with each cycle defined by a set time interval.</a:t>
            </a:r>
          </a:p>
          <a:p>
            <a:pPr algn="just">
              <a:buFont typeface="Wingdings" panose="05000000000000000000" pitchFamily="2" charset="2"/>
              <a:buChar char="Ø"/>
            </a:pPr>
            <a:r>
              <a:rPr lang="en-US" sz="1600" dirty="0">
                <a:solidFill>
                  <a:srgbClr val="0D0D0D"/>
                </a:solidFill>
                <a:latin typeface="Times New Roman" panose="02020603050405020304" pitchFamily="18" charset="0"/>
                <a:cs typeface="Times New Roman" panose="02020603050405020304" pitchFamily="18" charset="0"/>
              </a:rPr>
              <a:t>Buzzer Alerts System: Using a buzzer to notify operators immediately upon the completion of each machine cycle, enabling quick responses and adjustments.</a:t>
            </a:r>
          </a:p>
          <a:p>
            <a:pPr algn="just">
              <a:buFont typeface="Wingdings" panose="05000000000000000000" pitchFamily="2" charset="2"/>
              <a:buChar char="Ø"/>
            </a:pPr>
            <a:r>
              <a:rPr lang="en-US" sz="1600" dirty="0">
                <a:solidFill>
                  <a:srgbClr val="0D0D0D"/>
                </a:solidFill>
                <a:latin typeface="Times New Roman" panose="02020603050405020304" pitchFamily="18" charset="0"/>
                <a:cs typeface="Times New Roman" panose="02020603050405020304" pitchFamily="18" charset="0"/>
              </a:rPr>
              <a:t>Real-Time Data Display: Showing the number of completed cycles on a Bluetooth terminal, providing operators with real-time performance data.</a:t>
            </a: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4</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5194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3" name="Content Placeholder 2">
            <a:extLst>
              <a:ext uri="{FF2B5EF4-FFF2-40B4-BE49-F238E27FC236}">
                <a16:creationId xmlns:a16="http://schemas.microsoft.com/office/drawing/2014/main" id="{5A2A1EFC-6848-DDBE-60CB-932E971184F1}"/>
              </a:ext>
            </a:extLst>
          </p:cNvPr>
          <p:cNvSpPr>
            <a:spLocks noGrp="1"/>
          </p:cNvSpPr>
          <p:nvPr>
            <p:ph idx="1"/>
          </p:nvPr>
        </p:nvSpPr>
        <p:spPr>
          <a:xfrm>
            <a:off x="457200" y="1600200"/>
            <a:ext cx="8229600" cy="4853136"/>
          </a:xfrm>
        </p:spPr>
        <p:txBody>
          <a:bodyPr>
            <a:normAutofit/>
          </a:bodyPr>
          <a:lstStyle/>
          <a:p>
            <a:pPr algn="just"/>
            <a:r>
              <a:rPr lang="en-IN" sz="1800" b="1" dirty="0">
                <a:latin typeface="Times New Roman" panose="02020603050405020304" pitchFamily="18" charset="0"/>
                <a:cs typeface="Times New Roman" panose="02020603050405020304" pitchFamily="18" charset="0"/>
              </a:rPr>
              <a:t>Literature Survey:</a:t>
            </a:r>
          </a:p>
          <a:p>
            <a:pPr marL="0" indent="0" algn="just">
              <a:buNone/>
            </a:pPr>
            <a:endParaRPr lang="en-IN" sz="18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5</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463DB9E-AF6C-86E9-5430-27426557261A}"/>
              </a:ext>
            </a:extLst>
          </p:cNvPr>
          <p:cNvPicPr>
            <a:picLocks noChangeAspect="1"/>
          </p:cNvPicPr>
          <p:nvPr/>
        </p:nvPicPr>
        <p:blipFill>
          <a:blip r:embed="rId5"/>
          <a:stretch>
            <a:fillRect/>
          </a:stretch>
        </p:blipFill>
        <p:spPr>
          <a:xfrm>
            <a:off x="945692" y="1960240"/>
            <a:ext cx="7121144" cy="4853136"/>
          </a:xfrm>
          <a:prstGeom prst="rect">
            <a:avLst/>
          </a:prstGeom>
        </p:spPr>
      </p:pic>
    </p:spTree>
    <p:extLst>
      <p:ext uri="{BB962C8B-B14F-4D97-AF65-F5344CB8AC3E}">
        <p14:creationId xmlns:p14="http://schemas.microsoft.com/office/powerpoint/2010/main" val="1803402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6</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29A8410-2185-7629-3416-568E3C07FD3D}"/>
              </a:ext>
            </a:extLst>
          </p:cNvPr>
          <p:cNvSpPr>
            <a:spLocks noGrp="1"/>
          </p:cNvSpPr>
          <p:nvPr>
            <p:ph idx="1"/>
          </p:nvPr>
        </p:nvSpPr>
        <p:spPr>
          <a:xfrm>
            <a:off x="429728" y="1587647"/>
            <a:ext cx="8229600" cy="4525963"/>
          </a:xfrm>
        </p:spPr>
        <p:txBody>
          <a:bodyPr>
            <a:normAutofit/>
          </a:bodyPr>
          <a:lstStyle/>
          <a:p>
            <a:r>
              <a:rPr lang="en-IN" sz="1800" b="1" dirty="0">
                <a:latin typeface="Times New Roman" panose="02020603050405020304" pitchFamily="18" charset="0"/>
                <a:cs typeface="Times New Roman" panose="02020603050405020304" pitchFamily="18" charset="0"/>
              </a:rPr>
              <a:t>Methodology:</a:t>
            </a:r>
          </a:p>
          <a:p>
            <a:pPr marL="0" indent="0">
              <a:buNone/>
            </a:pPr>
            <a:endParaRPr lang="en-IN" sz="18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69BF9DE-E9DE-449F-99E2-3CFCC8940B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03649" y="1916832"/>
            <a:ext cx="6408712" cy="4666530"/>
          </a:xfrm>
          <a:prstGeom prst="rect">
            <a:avLst/>
          </a:prstGeom>
        </p:spPr>
      </p:pic>
    </p:spTree>
    <p:extLst>
      <p:ext uri="{BB962C8B-B14F-4D97-AF65-F5344CB8AC3E}">
        <p14:creationId xmlns:p14="http://schemas.microsoft.com/office/powerpoint/2010/main" val="2983164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7</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29A8410-2185-7629-3416-568E3C07FD3D}"/>
              </a:ext>
            </a:extLst>
          </p:cNvPr>
          <p:cNvSpPr>
            <a:spLocks noGrp="1"/>
          </p:cNvSpPr>
          <p:nvPr>
            <p:ph idx="1"/>
          </p:nvPr>
        </p:nvSpPr>
        <p:spPr>
          <a:xfrm>
            <a:off x="429728" y="1587647"/>
            <a:ext cx="8229600" cy="4525963"/>
          </a:xfrm>
        </p:spPr>
        <p:txBody>
          <a:bodyPr>
            <a:normAutofit/>
          </a:bodyPr>
          <a:lstStyle/>
          <a:p>
            <a:pPr marL="0" indent="0">
              <a:buNone/>
            </a:pPr>
            <a:endParaRPr lang="en-IN" sz="1800" b="1" dirty="0">
              <a:latin typeface="Times New Roman" panose="02020603050405020304" pitchFamily="18" charset="0"/>
              <a:cs typeface="Times New Roman" panose="02020603050405020304" pitchFamily="18" charset="0"/>
            </a:endParaRPr>
          </a:p>
          <a:p>
            <a:pPr marL="0" indent="0">
              <a:buNone/>
            </a:pPr>
            <a:endParaRPr lang="en-IN" sz="18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AB05D623-D49F-6D25-D588-F7C9E01C62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44438" y="1536519"/>
            <a:ext cx="6400180" cy="5184956"/>
          </a:xfrm>
          <a:prstGeom prst="rect">
            <a:avLst/>
          </a:prstGeom>
        </p:spPr>
      </p:pic>
    </p:spTree>
    <p:extLst>
      <p:ext uri="{BB962C8B-B14F-4D97-AF65-F5344CB8AC3E}">
        <p14:creationId xmlns:p14="http://schemas.microsoft.com/office/powerpoint/2010/main" val="2169835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8</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29A8410-2185-7629-3416-568E3C07FD3D}"/>
              </a:ext>
            </a:extLst>
          </p:cNvPr>
          <p:cNvSpPr>
            <a:spLocks noGrp="1"/>
          </p:cNvSpPr>
          <p:nvPr>
            <p:ph idx="1"/>
          </p:nvPr>
        </p:nvSpPr>
        <p:spPr>
          <a:xfrm>
            <a:off x="429728" y="1587647"/>
            <a:ext cx="8229600" cy="4525963"/>
          </a:xfrm>
        </p:spPr>
        <p:txBody>
          <a:bodyPr>
            <a:normAutofit/>
          </a:bodyPr>
          <a:lstStyle/>
          <a:p>
            <a:pPr marL="0" indent="0">
              <a:buNone/>
            </a:pPr>
            <a:endParaRPr lang="en-IN" sz="1800" b="1" dirty="0">
              <a:latin typeface="Times New Roman" panose="02020603050405020304" pitchFamily="18" charset="0"/>
              <a:cs typeface="Times New Roman" panose="02020603050405020304" pitchFamily="18" charset="0"/>
            </a:endParaRPr>
          </a:p>
          <a:p>
            <a:pPr marL="0" indent="0">
              <a:buNone/>
            </a:pPr>
            <a:endParaRPr lang="en-IN" sz="1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6603421-265A-B84F-CCF1-5082D717FB08}"/>
              </a:ext>
            </a:extLst>
          </p:cNvPr>
          <p:cNvPicPr>
            <a:picLocks noChangeAspect="1"/>
          </p:cNvPicPr>
          <p:nvPr/>
        </p:nvPicPr>
        <p:blipFill rotWithShape="1">
          <a:blip r:embed="rId5"/>
          <a:srcRect r="2022"/>
          <a:stretch/>
        </p:blipFill>
        <p:spPr>
          <a:xfrm>
            <a:off x="838786" y="1675053"/>
            <a:ext cx="7261606" cy="4258269"/>
          </a:xfrm>
          <a:prstGeom prst="rect">
            <a:avLst/>
          </a:prstGeom>
        </p:spPr>
      </p:pic>
    </p:spTree>
    <p:extLst>
      <p:ext uri="{BB962C8B-B14F-4D97-AF65-F5344CB8AC3E}">
        <p14:creationId xmlns:p14="http://schemas.microsoft.com/office/powerpoint/2010/main" val="4090719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9</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29A8410-2185-7629-3416-568E3C07FD3D}"/>
              </a:ext>
            </a:extLst>
          </p:cNvPr>
          <p:cNvSpPr>
            <a:spLocks noGrp="1"/>
          </p:cNvSpPr>
          <p:nvPr>
            <p:ph idx="1"/>
          </p:nvPr>
        </p:nvSpPr>
        <p:spPr>
          <a:xfrm>
            <a:off x="429728" y="1587647"/>
            <a:ext cx="8229600" cy="4525963"/>
          </a:xfrm>
        </p:spPr>
        <p:txBody>
          <a:bodyPr>
            <a:normAutofit/>
          </a:bodyPr>
          <a:lstStyle/>
          <a:p>
            <a:r>
              <a:rPr lang="en-IN" sz="1800" b="1" dirty="0">
                <a:latin typeface="Times New Roman" panose="02020603050405020304" pitchFamily="18" charset="0"/>
                <a:cs typeface="Times New Roman" panose="02020603050405020304" pitchFamily="18" charset="0"/>
              </a:rPr>
              <a:t>Hardware components:</a:t>
            </a:r>
          </a:p>
          <a:p>
            <a:pPr>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Arduino UNO: The brain of the system, executing the code to monitor cycles, control components, and communicate data.</a:t>
            </a:r>
          </a:p>
          <a:p>
            <a:pPr>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Servo Motor SG-90: Demonstrates mechanical movements corresponding to machine cycles.</a:t>
            </a:r>
          </a:p>
          <a:p>
            <a:pPr>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BUZZER MODULE (5V): Alerts operators of cycle completion with sound.</a:t>
            </a:r>
          </a:p>
          <a:p>
            <a:pPr>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Breadboard and Jumper Wires: Provide a non-permanent and flexible way to connect all electronic components.</a:t>
            </a:r>
          </a:p>
          <a:p>
            <a:pPr>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HC-05 Bluetooth Module: Facilitates wireless communication to display cycle data on a Bluetooth terminal app on a mobile device.</a:t>
            </a: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5757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5" name="Content Placeholder 4">
            <a:extLst>
              <a:ext uri="{FF2B5EF4-FFF2-40B4-BE49-F238E27FC236}">
                <a16:creationId xmlns:a16="http://schemas.microsoft.com/office/drawing/2014/main" id="{6D760DF2-CB9E-BDFA-5693-EB4DC04D1711}"/>
              </a:ext>
            </a:extLst>
          </p:cNvPr>
          <p:cNvSpPr>
            <a:spLocks noGrp="1"/>
          </p:cNvSpPr>
          <p:nvPr>
            <p:ph idx="1"/>
          </p:nvPr>
        </p:nvSpPr>
        <p:spPr>
          <a:xfrm>
            <a:off x="493712" y="1600373"/>
            <a:ext cx="5662464" cy="4755977"/>
          </a:xfrm>
        </p:spPr>
        <p:txBody>
          <a:bodyPr>
            <a:normAutofit/>
          </a:bodyPr>
          <a:lstStyle/>
          <a:p>
            <a:pPr marR="377825"/>
            <a:r>
              <a:rPr lang="en-IN" sz="1800" b="1" dirty="0">
                <a:latin typeface="Times New Roman" panose="02020603050405020304" pitchFamily="18" charset="0"/>
                <a:ea typeface="Times New Roman" panose="02020603050405020304" pitchFamily="18" charset="0"/>
              </a:rPr>
              <a:t>Result:</a:t>
            </a:r>
          </a:p>
          <a:p>
            <a:pPr marR="377825" algn="just">
              <a:buFont typeface="Wingdings" panose="05000000000000000000" pitchFamily="2" charset="2"/>
              <a:buChar char="Ø"/>
            </a:pPr>
            <a:r>
              <a:rPr lang="en-US" sz="1600" dirty="0">
                <a:effectLst/>
                <a:latin typeface="Times New Roman" panose="02020603050405020304" pitchFamily="18" charset="0"/>
                <a:ea typeface="Times New Roman" panose="02020603050405020304" pitchFamily="18" charset="0"/>
              </a:rPr>
              <a:t>As shown in the screenshot, the terminal displays the cycle count in real-time. Each number represents a completed cycle, with the system accurately tracking and updating the count every 90 seconds.</a:t>
            </a:r>
          </a:p>
          <a:p>
            <a:pPr marR="377825" algn="just">
              <a:buFont typeface="Wingdings" panose="05000000000000000000" pitchFamily="2" charset="2"/>
              <a:buChar char="Ø"/>
            </a:pPr>
            <a:r>
              <a:rPr lang="en-US" sz="1600" dirty="0">
                <a:effectLst/>
                <a:latin typeface="Times New Roman" panose="02020603050405020304" pitchFamily="18" charset="0"/>
                <a:ea typeface="Times New Roman" panose="02020603050405020304" pitchFamily="18" charset="0"/>
              </a:rPr>
              <a:t>The consistent and accurate cycle count displayed on the terminal confirms that the system is functioning as intended. The timely updates and alerts ensure that operators are informed immediately, allowing for efficient monitoring and management of industrial machines.</a:t>
            </a:r>
          </a:p>
          <a:p>
            <a:pPr marR="377825" algn="just">
              <a:buFont typeface="Wingdings" panose="05000000000000000000" pitchFamily="2" charset="2"/>
              <a:buChar char="Ø"/>
            </a:pPr>
            <a:r>
              <a:rPr lang="en-US" sz="1600" dirty="0">
                <a:effectLst/>
                <a:latin typeface="Times New Roman" panose="02020603050405020304" pitchFamily="18" charset="0"/>
                <a:ea typeface="Times New Roman" panose="02020603050405020304" pitchFamily="18" charset="0"/>
              </a:rPr>
              <a:t>The results validate the reliability and efficiency of the Smart Industrial Machine Monitoring System. The successful implementation of real-time cycle tracking and alert notifications highlights the potential for improved operational oversight in industrial settings.</a:t>
            </a:r>
            <a:endParaRPr lang="en-IN" sz="1600" dirty="0">
              <a:effectLst/>
              <a:latin typeface="Times New Roman" panose="02020603050405020304" pitchFamily="18" charset="0"/>
              <a:ea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10</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A11A58CC-4071-786A-291A-F850B9C9D86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40152" y="1856228"/>
            <a:ext cx="2880320" cy="4317388"/>
          </a:xfrm>
          <a:prstGeom prst="rect">
            <a:avLst/>
          </a:prstGeom>
        </p:spPr>
      </p:pic>
    </p:spTree>
    <p:extLst>
      <p:ext uri="{BB962C8B-B14F-4D97-AF65-F5344CB8AC3E}">
        <p14:creationId xmlns:p14="http://schemas.microsoft.com/office/powerpoint/2010/main" val="3504503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11</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29A8410-2185-7629-3416-568E3C07FD3D}"/>
              </a:ext>
            </a:extLst>
          </p:cNvPr>
          <p:cNvSpPr>
            <a:spLocks noGrp="1"/>
          </p:cNvSpPr>
          <p:nvPr>
            <p:ph idx="1"/>
          </p:nvPr>
        </p:nvSpPr>
        <p:spPr>
          <a:xfrm>
            <a:off x="429728" y="1587647"/>
            <a:ext cx="8229600" cy="4525963"/>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Working Time Calculation(in sec):</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To calculate the total time the motor has been operating, we use the following equation:</a:t>
            </a:r>
          </a:p>
          <a:p>
            <a:pPr marL="0" indent="0">
              <a:buNone/>
            </a:pPr>
            <a:r>
              <a:rPr lang="en-US" sz="1600" b="1" dirty="0">
                <a:latin typeface="Times New Roman" panose="02020603050405020304" pitchFamily="18" charset="0"/>
                <a:cs typeface="Times New Roman" panose="02020603050405020304" pitchFamily="18" charset="0"/>
              </a:rPr>
              <a:t>Total Time</a:t>
            </a:r>
            <a:r>
              <a:rPr lang="en-US" sz="1600" dirty="0">
                <a:latin typeface="Times New Roman" panose="02020603050405020304" pitchFamily="18" charset="0"/>
                <a:cs typeface="Times New Roman" panose="02020603050405020304" pitchFamily="18" charset="0"/>
              </a:rPr>
              <a:t>=Number of Cycles×90seconds</a:t>
            </a:r>
          </a:p>
          <a:p>
            <a:pPr marL="0" indent="0">
              <a:buNone/>
            </a:pPr>
            <a:r>
              <a:rPr lang="en-US" sz="1600" dirty="0">
                <a:latin typeface="Times New Roman" panose="02020603050405020304" pitchFamily="18" charset="0"/>
                <a:cs typeface="Times New Roman" panose="02020603050405020304" pitchFamily="18" charset="0"/>
              </a:rPr>
              <a:t>Where,</a:t>
            </a:r>
          </a:p>
          <a:p>
            <a:pPr marL="0" indent="0">
              <a:buNone/>
            </a:pPr>
            <a:r>
              <a:rPr lang="en-US" sz="1600" dirty="0">
                <a:latin typeface="Times New Roman" panose="02020603050405020304" pitchFamily="18" charset="0"/>
                <a:cs typeface="Times New Roman" panose="02020603050405020304" pitchFamily="18" charset="0"/>
              </a:rPr>
              <a:t>Number of Cycles: The count of completed cycles as displayed on the Bluetooth terminal.</a:t>
            </a:r>
          </a:p>
          <a:p>
            <a:pPr marL="0" indent="0">
              <a:buNone/>
            </a:pPr>
            <a:r>
              <a:rPr lang="en-US" sz="1600" dirty="0">
                <a:latin typeface="Times New Roman" panose="02020603050405020304" pitchFamily="18" charset="0"/>
                <a:cs typeface="Times New Roman" panose="02020603050405020304" pitchFamily="18" charset="0"/>
              </a:rPr>
              <a:t>90 seconds: The fixed time interval for each cycle.</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For example, if the Bluetooth terminal shows that 10 cycles have been completed, the total </a:t>
            </a:r>
          </a:p>
          <a:p>
            <a:pPr marL="0" indent="0">
              <a:buNone/>
            </a:pPr>
            <a:r>
              <a:rPr lang="en-US" sz="1600" dirty="0">
                <a:latin typeface="Times New Roman" panose="02020603050405020304" pitchFamily="18" charset="0"/>
                <a:cs typeface="Times New Roman" panose="02020603050405020304" pitchFamily="18" charset="0"/>
              </a:rPr>
              <a:t>operation time of the motor can be calculated as follows:</a:t>
            </a:r>
          </a:p>
          <a:p>
            <a:pPr marL="0" indent="0">
              <a:buNone/>
            </a:pPr>
            <a:r>
              <a:rPr lang="en-US" sz="1600" dirty="0">
                <a:latin typeface="Times New Roman" panose="02020603050405020304" pitchFamily="18" charset="0"/>
                <a:cs typeface="Times New Roman" panose="02020603050405020304" pitchFamily="18" charset="0"/>
              </a:rPr>
              <a:t>Total Time=10cycles×90seconds</a:t>
            </a:r>
          </a:p>
          <a:p>
            <a:pPr marL="0" indent="0">
              <a:buNone/>
            </a:pPr>
            <a:r>
              <a:rPr lang="en-US" sz="1600" dirty="0">
                <a:latin typeface="Times New Roman" panose="02020603050405020304" pitchFamily="18" charset="0"/>
                <a:cs typeface="Times New Roman" panose="02020603050405020304" pitchFamily="18" charset="0"/>
              </a:rPr>
              <a:t>Total Time=900seconds</a:t>
            </a:r>
          </a:p>
          <a:p>
            <a:pPr marL="0" indent="0">
              <a:buNone/>
            </a:pPr>
            <a:r>
              <a:rPr lang="en-US" sz="1600" dirty="0">
                <a:latin typeface="Times New Roman" panose="02020603050405020304" pitchFamily="18" charset="0"/>
                <a:cs typeface="Times New Roman" panose="02020603050405020304" pitchFamily="18" charset="0"/>
              </a:rPr>
              <a:t>Therefore, the motor has been operating for a total of 900 seconds.</a:t>
            </a:r>
            <a:endParaRPr lang="en-IN" sz="1600" dirty="0">
              <a:latin typeface="Times New Roman" panose="02020603050405020304" pitchFamily="18" charset="0"/>
              <a:cs typeface="Times New Roman" panose="02020603050405020304" pitchFamily="18" charset="0"/>
            </a:endParaRPr>
          </a:p>
          <a:p>
            <a:pPr marL="0" indent="0">
              <a:buNone/>
            </a:pP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6238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12</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29A8410-2185-7629-3416-568E3C07FD3D}"/>
              </a:ext>
            </a:extLst>
          </p:cNvPr>
          <p:cNvSpPr>
            <a:spLocks noGrp="1"/>
          </p:cNvSpPr>
          <p:nvPr>
            <p:ph idx="1"/>
          </p:nvPr>
        </p:nvSpPr>
        <p:spPr>
          <a:xfrm>
            <a:off x="429728" y="1587647"/>
            <a:ext cx="8229600" cy="4995715"/>
          </a:xfrm>
        </p:spPr>
        <p:txBody>
          <a:bodyPr>
            <a:normAutofit fontScale="92500"/>
          </a:bodyPr>
          <a:lstStyle/>
          <a:p>
            <a:r>
              <a:rPr lang="en-IN" sz="1800" b="1" dirty="0">
                <a:latin typeface="Times New Roman" panose="02020603050405020304" pitchFamily="18" charset="0"/>
                <a:cs typeface="Times New Roman" panose="02020603050405020304" pitchFamily="18" charset="0"/>
              </a:rPr>
              <a:t>References:</a:t>
            </a:r>
          </a:p>
          <a:p>
            <a:pPr marL="0" indent="0" algn="just">
              <a:buNone/>
            </a:pPr>
            <a:r>
              <a:rPr lang="en-IN" sz="1700" dirty="0">
                <a:latin typeface="Times New Roman" panose="02020603050405020304" pitchFamily="18" charset="0"/>
                <a:cs typeface="Times New Roman" panose="02020603050405020304" pitchFamily="18" charset="0"/>
              </a:rPr>
              <a:t>[1] </a:t>
            </a:r>
            <a:r>
              <a:rPr lang="en-IN" sz="1700" dirty="0" err="1">
                <a:latin typeface="Times New Roman" panose="02020603050405020304" pitchFamily="18" charset="0"/>
                <a:cs typeface="Times New Roman" panose="02020603050405020304" pitchFamily="18" charset="0"/>
              </a:rPr>
              <a:t>Ibtesam</a:t>
            </a:r>
            <a:r>
              <a:rPr lang="en-IN" sz="1700" dirty="0">
                <a:latin typeface="Times New Roman" panose="02020603050405020304" pitchFamily="18" charset="0"/>
                <a:cs typeface="Times New Roman" panose="02020603050405020304" pitchFamily="18" charset="0"/>
              </a:rPr>
              <a:t> R. K. Al-</a:t>
            </a:r>
            <a:r>
              <a:rPr lang="en-IN" sz="1700" dirty="0" err="1">
                <a:latin typeface="Times New Roman" panose="02020603050405020304" pitchFamily="18" charset="0"/>
                <a:cs typeface="Times New Roman" panose="02020603050405020304" pitchFamily="18" charset="0"/>
              </a:rPr>
              <a:t>Saedi</a:t>
            </a:r>
            <a:r>
              <a:rPr lang="en-IN" sz="1700" dirty="0">
                <a:latin typeface="Times New Roman" panose="02020603050405020304" pitchFamily="18" charset="0"/>
                <a:cs typeface="Times New Roman" panose="02020603050405020304" pitchFamily="18" charset="0"/>
              </a:rPr>
              <a:t>, Farag </a:t>
            </a:r>
            <a:r>
              <a:rPr lang="en-IN" sz="1700" dirty="0" err="1">
                <a:latin typeface="Times New Roman" panose="02020603050405020304" pitchFamily="18" charset="0"/>
                <a:cs typeface="Times New Roman" panose="02020603050405020304" pitchFamily="18" charset="0"/>
              </a:rPr>
              <a:t>Mahel</a:t>
            </a:r>
            <a:r>
              <a:rPr lang="en-IN" sz="1700" dirty="0">
                <a:latin typeface="Times New Roman" panose="02020603050405020304" pitchFamily="18" charset="0"/>
                <a:cs typeface="Times New Roman" panose="02020603050405020304" pitchFamily="18" charset="0"/>
              </a:rPr>
              <a:t> Mohammed and Saif </a:t>
            </a:r>
            <a:r>
              <a:rPr lang="en-IN" sz="1700" dirty="0" err="1">
                <a:latin typeface="Times New Roman" panose="02020603050405020304" pitchFamily="18" charset="0"/>
                <a:cs typeface="Times New Roman" panose="02020603050405020304" pitchFamily="18" charset="0"/>
              </a:rPr>
              <a:t>Aldeen</a:t>
            </a:r>
            <a:r>
              <a:rPr lang="en-IN" sz="1700" dirty="0">
                <a:latin typeface="Times New Roman" panose="02020603050405020304" pitchFamily="18" charset="0"/>
                <a:cs typeface="Times New Roman" panose="02020603050405020304" pitchFamily="18" charset="0"/>
              </a:rPr>
              <a:t> Saad </a:t>
            </a:r>
            <a:r>
              <a:rPr lang="en-IN" sz="1700" dirty="0" err="1">
                <a:latin typeface="Times New Roman" panose="02020603050405020304" pitchFamily="18" charset="0"/>
                <a:cs typeface="Times New Roman" panose="02020603050405020304" pitchFamily="18" charset="0"/>
              </a:rPr>
              <a:t>Obaye</a:t>
            </a:r>
            <a:r>
              <a:rPr lang="en-IN" sz="1700" dirty="0">
                <a:latin typeface="Times New Roman" panose="02020603050405020304" pitchFamily="18" charset="0"/>
                <a:cs typeface="Times New Roman" panose="02020603050405020304" pitchFamily="18" charset="0"/>
              </a:rPr>
              <a:t>: CNC Machine   Based on Embedded Wireless and Internet of Things for Workshop Development.</a:t>
            </a:r>
          </a:p>
          <a:p>
            <a:pPr marL="0" indent="0" algn="just">
              <a:buNone/>
            </a:pPr>
            <a:r>
              <a:rPr lang="en-IN" sz="1700" dirty="0">
                <a:latin typeface="Times New Roman" panose="02020603050405020304" pitchFamily="18" charset="0"/>
                <a:cs typeface="Times New Roman" panose="02020603050405020304" pitchFamily="18" charset="0"/>
              </a:rPr>
              <a:t>[2] Yuan Guo, Yu Sun and Kai Wu: Research and development of monitoring system and data monitoring system and data acquisition of CNC machine tool in intelligent manufacturing.</a:t>
            </a:r>
          </a:p>
          <a:p>
            <a:pPr marL="0" indent="0" algn="just">
              <a:buNone/>
            </a:pPr>
            <a:r>
              <a:rPr lang="en-IN" sz="1700" dirty="0">
                <a:latin typeface="Times New Roman" panose="02020603050405020304" pitchFamily="18" charset="0"/>
                <a:cs typeface="Times New Roman" panose="02020603050405020304" pitchFamily="18" charset="0"/>
              </a:rPr>
              <a:t>[3] Amirul Syafiq </a:t>
            </a:r>
            <a:r>
              <a:rPr lang="en-IN" sz="1700" dirty="0" err="1">
                <a:latin typeface="Times New Roman" panose="02020603050405020304" pitchFamily="18" charset="0"/>
                <a:cs typeface="Times New Roman" panose="02020603050405020304" pitchFamily="18" charset="0"/>
              </a:rPr>
              <a:t>Sadun</a:t>
            </a:r>
            <a:r>
              <a:rPr lang="en-IN" sz="1700" dirty="0">
                <a:latin typeface="Times New Roman" panose="02020603050405020304" pitchFamily="18" charset="0"/>
                <a:cs typeface="Times New Roman" panose="02020603050405020304" pitchFamily="18" charset="0"/>
              </a:rPr>
              <a:t>, </a:t>
            </a:r>
            <a:r>
              <a:rPr lang="en-IN" sz="1700" dirty="0" err="1">
                <a:latin typeface="Times New Roman" panose="02020603050405020304" pitchFamily="18" charset="0"/>
                <a:cs typeface="Times New Roman" panose="02020603050405020304" pitchFamily="18" charset="0"/>
              </a:rPr>
              <a:t>Jamaludin</a:t>
            </a:r>
            <a:r>
              <a:rPr lang="en-IN" sz="1700" dirty="0">
                <a:latin typeface="Times New Roman" panose="02020603050405020304" pitchFamily="18" charset="0"/>
                <a:cs typeface="Times New Roman" panose="02020603050405020304" pitchFamily="18" charset="0"/>
              </a:rPr>
              <a:t> </a:t>
            </a:r>
            <a:r>
              <a:rPr lang="en-IN" sz="1700" dirty="0" err="1">
                <a:latin typeface="Times New Roman" panose="02020603050405020304" pitchFamily="18" charset="0"/>
                <a:cs typeface="Times New Roman" panose="02020603050405020304" pitchFamily="18" charset="0"/>
              </a:rPr>
              <a:t>Jalani</a:t>
            </a:r>
            <a:r>
              <a:rPr lang="en-IN" sz="1700" dirty="0">
                <a:latin typeface="Times New Roman" panose="02020603050405020304" pitchFamily="18" charset="0"/>
                <a:cs typeface="Times New Roman" panose="02020603050405020304" pitchFamily="18" charset="0"/>
              </a:rPr>
              <a:t> and </a:t>
            </a:r>
            <a:r>
              <a:rPr lang="en-IN" sz="1700" dirty="0" err="1">
                <a:latin typeface="Times New Roman" panose="02020603050405020304" pitchFamily="18" charset="0"/>
                <a:cs typeface="Times New Roman" panose="02020603050405020304" pitchFamily="18" charset="0"/>
              </a:rPr>
              <a:t>Jumadi</a:t>
            </a:r>
            <a:r>
              <a:rPr lang="en-IN" sz="1700" dirty="0">
                <a:latin typeface="Times New Roman" panose="02020603050405020304" pitchFamily="18" charset="0"/>
                <a:cs typeface="Times New Roman" panose="02020603050405020304" pitchFamily="18" charset="0"/>
              </a:rPr>
              <a:t> Abdul </a:t>
            </a:r>
            <a:r>
              <a:rPr lang="en-IN" sz="1700" dirty="0" err="1">
                <a:latin typeface="Times New Roman" panose="02020603050405020304" pitchFamily="18" charset="0"/>
                <a:cs typeface="Times New Roman" panose="02020603050405020304" pitchFamily="18" charset="0"/>
              </a:rPr>
              <a:t>Suko</a:t>
            </a:r>
            <a:r>
              <a:rPr lang="en-IN" sz="1700" dirty="0">
                <a:latin typeface="Times New Roman" panose="02020603050405020304" pitchFamily="18" charset="0"/>
                <a:cs typeface="Times New Roman" panose="02020603050405020304" pitchFamily="18" charset="0"/>
              </a:rPr>
              <a:t>: Review on smart manufacturing based on IoT: An Industrial application.</a:t>
            </a:r>
          </a:p>
          <a:p>
            <a:pPr marL="0" indent="0" algn="just">
              <a:buNone/>
            </a:pPr>
            <a:r>
              <a:rPr lang="en-IN" sz="1700" dirty="0">
                <a:latin typeface="Times New Roman" panose="02020603050405020304" pitchFamily="18" charset="0"/>
                <a:cs typeface="Times New Roman" panose="02020603050405020304" pitchFamily="18" charset="0"/>
              </a:rPr>
              <a:t>[4] D. Gowtham chitha1, S. </a:t>
            </a:r>
            <a:r>
              <a:rPr lang="en-IN" sz="1700" dirty="0" err="1">
                <a:latin typeface="Times New Roman" panose="02020603050405020304" pitchFamily="18" charset="0"/>
                <a:cs typeface="Times New Roman" panose="02020603050405020304" pitchFamily="18" charset="0"/>
              </a:rPr>
              <a:t>HariBalaji</a:t>
            </a:r>
            <a:r>
              <a:rPr lang="en-IN" sz="1700" dirty="0">
                <a:latin typeface="Times New Roman" panose="02020603050405020304" pitchFamily="18" charset="0"/>
                <a:cs typeface="Times New Roman" panose="02020603050405020304" pitchFamily="18" charset="0"/>
              </a:rPr>
              <a:t>, S. M. Kavi Prabu, Dr P. </a:t>
            </a:r>
            <a:r>
              <a:rPr lang="en-IN" sz="1700" dirty="0" err="1">
                <a:latin typeface="Times New Roman" panose="02020603050405020304" pitchFamily="18" charset="0"/>
                <a:cs typeface="Times New Roman" panose="02020603050405020304" pitchFamily="18" charset="0"/>
              </a:rPr>
              <a:t>Karuppuswamy</a:t>
            </a:r>
            <a:r>
              <a:rPr lang="en-IN" sz="1700" dirty="0">
                <a:latin typeface="Times New Roman" panose="02020603050405020304" pitchFamily="18" charset="0"/>
                <a:cs typeface="Times New Roman" panose="02020603050405020304" pitchFamily="18" charset="0"/>
              </a:rPr>
              <a:t> : A comparative study on the position control method of dc servo motor with position feedback by using  Arduino.</a:t>
            </a:r>
          </a:p>
          <a:p>
            <a:pPr marL="0" indent="0" algn="just">
              <a:buNone/>
            </a:pPr>
            <a:r>
              <a:rPr lang="en-IN" sz="1700" dirty="0">
                <a:latin typeface="Times New Roman" panose="02020603050405020304" pitchFamily="18" charset="0"/>
                <a:cs typeface="Times New Roman" panose="02020603050405020304" pitchFamily="18" charset="0"/>
              </a:rPr>
              <a:t>[5] A </a:t>
            </a:r>
            <a:r>
              <a:rPr lang="en-IN" sz="1700" dirty="0" err="1">
                <a:latin typeface="Times New Roman" panose="02020603050405020304" pitchFamily="18" charset="0"/>
                <a:cs typeface="Times New Roman" panose="02020603050405020304" pitchFamily="18" charset="0"/>
              </a:rPr>
              <a:t>Ajitha</a:t>
            </a:r>
            <a:r>
              <a:rPr lang="en-IN" sz="1700" dirty="0">
                <a:latin typeface="Times New Roman" panose="02020603050405020304" pitchFamily="18" charset="0"/>
                <a:cs typeface="Times New Roman" panose="02020603050405020304" pitchFamily="18" charset="0"/>
              </a:rPr>
              <a:t>, </a:t>
            </a:r>
            <a:r>
              <a:rPr lang="en-IN" sz="1700" dirty="0" err="1">
                <a:latin typeface="Times New Roman" panose="02020603050405020304" pitchFamily="18" charset="0"/>
                <a:cs typeface="Times New Roman" panose="02020603050405020304" pitchFamily="18" charset="0"/>
              </a:rPr>
              <a:t>J.Laxmi</a:t>
            </a:r>
            <a:r>
              <a:rPr lang="en-IN" sz="1700" dirty="0">
                <a:latin typeface="Times New Roman" panose="02020603050405020304" pitchFamily="18" charset="0"/>
                <a:cs typeface="Times New Roman" panose="02020603050405020304" pitchFamily="18" charset="0"/>
              </a:rPr>
              <a:t> Prasanna , D Swathi ,D Shyamala : IoT platform for Condition Monitoring of Industrial Motors.</a:t>
            </a:r>
          </a:p>
          <a:p>
            <a:pPr marL="0" indent="0" algn="just">
              <a:buNone/>
            </a:pPr>
            <a:r>
              <a:rPr lang="en-IN" sz="1700" dirty="0">
                <a:latin typeface="Times New Roman" panose="02020603050405020304" pitchFamily="18" charset="0"/>
                <a:cs typeface="Times New Roman" panose="02020603050405020304" pitchFamily="18" charset="0"/>
              </a:rPr>
              <a:t>[6] Nikita </a:t>
            </a:r>
            <a:r>
              <a:rPr lang="en-IN" sz="1700" dirty="0" err="1">
                <a:latin typeface="Times New Roman" panose="02020603050405020304" pitchFamily="18" charset="0"/>
                <a:cs typeface="Times New Roman" panose="02020603050405020304" pitchFamily="18" charset="0"/>
              </a:rPr>
              <a:t>Gosavi</a:t>
            </a:r>
            <a:r>
              <a:rPr lang="en-IN" sz="1700" dirty="0">
                <a:latin typeface="Times New Roman" panose="02020603050405020304" pitchFamily="18" charset="0"/>
                <a:cs typeface="Times New Roman" panose="02020603050405020304" pitchFamily="18" charset="0"/>
              </a:rPr>
              <a:t>, Sakshi Babar, Bhagwan </a:t>
            </a:r>
            <a:r>
              <a:rPr lang="en-IN" sz="1700" dirty="0" err="1">
                <a:latin typeface="Times New Roman" panose="02020603050405020304" pitchFamily="18" charset="0"/>
                <a:cs typeface="Times New Roman" panose="02020603050405020304" pitchFamily="18" charset="0"/>
              </a:rPr>
              <a:t>Katale</a:t>
            </a:r>
            <a:r>
              <a:rPr lang="en-IN" sz="1700" dirty="0">
                <a:latin typeface="Times New Roman" panose="02020603050405020304" pitchFamily="18" charset="0"/>
                <a:cs typeface="Times New Roman" panose="02020603050405020304" pitchFamily="18" charset="0"/>
              </a:rPr>
              <a:t>, Prof P.H. Kulkarni: Smart Monitoring System for Industrial Automation (IoT based).</a:t>
            </a:r>
          </a:p>
          <a:p>
            <a:pPr marL="0" indent="0" algn="just">
              <a:buNone/>
            </a:pPr>
            <a:r>
              <a:rPr lang="en-IN" sz="1700" dirty="0">
                <a:latin typeface="Times New Roman" panose="02020603050405020304" pitchFamily="18" charset="0"/>
                <a:cs typeface="Times New Roman" panose="02020603050405020304" pitchFamily="18" charset="0"/>
              </a:rPr>
              <a:t>[7] Mohamed Abdulahi:  Automatic System to Calculate Working Hours for Machines and Operators.</a:t>
            </a:r>
          </a:p>
          <a:p>
            <a:pPr marL="0" indent="0" algn="just">
              <a:buNone/>
            </a:pPr>
            <a:r>
              <a:rPr lang="en-US" sz="1700" dirty="0">
                <a:latin typeface="Times New Roman" panose="02020603050405020304" pitchFamily="18" charset="0"/>
                <a:cs typeface="Times New Roman" panose="02020603050405020304" pitchFamily="18" charset="0"/>
              </a:rPr>
              <a:t>[8] Mehmet </a:t>
            </a:r>
            <a:r>
              <a:rPr lang="en-US" sz="1700" dirty="0" err="1">
                <a:latin typeface="Times New Roman" panose="02020603050405020304" pitchFamily="18" charset="0"/>
                <a:cs typeface="Times New Roman" panose="02020603050405020304" pitchFamily="18" charset="0"/>
              </a:rPr>
              <a:t>Şen</a:t>
            </a:r>
            <a:r>
              <a:rPr lang="en-US" sz="1700" dirty="0">
                <a:latin typeface="Times New Roman" panose="02020603050405020304" pitchFamily="18" charset="0"/>
                <a:cs typeface="Times New Roman" panose="02020603050405020304" pitchFamily="18" charset="0"/>
              </a:rPr>
              <a:t> and </a:t>
            </a:r>
            <a:r>
              <a:rPr lang="en-US" sz="1700" dirty="0" err="1">
                <a:latin typeface="Times New Roman" panose="02020603050405020304" pitchFamily="18" charset="0"/>
                <a:cs typeface="Times New Roman" panose="02020603050405020304" pitchFamily="18" charset="0"/>
              </a:rPr>
              <a:t>Basri</a:t>
            </a:r>
            <a:r>
              <a:rPr lang="en-US" sz="1700" dirty="0">
                <a:latin typeface="Times New Roman" panose="02020603050405020304" pitchFamily="18" charset="0"/>
                <a:cs typeface="Times New Roman" panose="02020603050405020304" pitchFamily="18" charset="0"/>
              </a:rPr>
              <a:t> Kul: IoT-Based Wireless Induction Motor Monitoring.</a:t>
            </a:r>
          </a:p>
          <a:p>
            <a:pPr marL="0" indent="0" algn="just">
              <a:buNone/>
            </a:pPr>
            <a:r>
              <a:rPr lang="en-US" sz="1700" dirty="0">
                <a:latin typeface="Times New Roman" panose="02020603050405020304" pitchFamily="18" charset="0"/>
                <a:cs typeface="Times New Roman" panose="02020603050405020304" pitchFamily="18" charset="0"/>
              </a:rPr>
              <a:t>[9] Abhishek Gupta: Induction motor speed control using android application, I. J. of    Electrical and   Electronic Research.</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7637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3" name="Content Placeholder 2">
            <a:extLst>
              <a:ext uri="{FF2B5EF4-FFF2-40B4-BE49-F238E27FC236}">
                <a16:creationId xmlns:a16="http://schemas.microsoft.com/office/drawing/2014/main" id="{BCCC6B2D-ADD8-E918-05CF-734435F78050}"/>
              </a:ext>
            </a:extLst>
          </p:cNvPr>
          <p:cNvSpPr>
            <a:spLocks noGrp="1"/>
          </p:cNvSpPr>
          <p:nvPr>
            <p:ph idx="1"/>
          </p:nvPr>
        </p:nvSpPr>
        <p:spPr>
          <a:xfrm>
            <a:off x="457200" y="1600200"/>
            <a:ext cx="8229600" cy="4729802"/>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                                                  </a:t>
            </a:r>
          </a:p>
          <a:p>
            <a:pPr marL="0" indent="0">
              <a:buNone/>
            </a:pPr>
            <a:endParaRPr lang="en-IN" sz="2000" b="1" dirty="0">
              <a:latin typeface="Times New Roman" panose="02020603050405020304" pitchFamily="18" charset="0"/>
              <a:cs typeface="Times New Roman" panose="02020603050405020304" pitchFamily="18" charset="0"/>
            </a:endParaRPr>
          </a:p>
          <a:p>
            <a:pPr marL="0" indent="0">
              <a:buNone/>
            </a:pPr>
            <a:endParaRPr lang="en-IN" sz="2000" b="1" dirty="0">
              <a:latin typeface="Times New Roman" panose="02020603050405020304" pitchFamily="18" charset="0"/>
              <a:cs typeface="Times New Roman" panose="02020603050405020304" pitchFamily="18" charset="0"/>
            </a:endParaRPr>
          </a:p>
          <a:p>
            <a:pPr marL="0" indent="0">
              <a:buNone/>
            </a:pPr>
            <a:endParaRPr lang="en-IN" sz="2000" b="1" dirty="0">
              <a:latin typeface="Times New Roman" panose="02020603050405020304" pitchFamily="18" charset="0"/>
              <a:cs typeface="Times New Roman" panose="02020603050405020304" pitchFamily="18" charset="0"/>
            </a:endParaRPr>
          </a:p>
          <a:p>
            <a:pPr marL="0" indent="0">
              <a:buNone/>
            </a:pPr>
            <a:endParaRPr lang="en-IN" sz="2000" b="1" dirty="0">
              <a:latin typeface="Times New Roman" panose="02020603050405020304" pitchFamily="18" charset="0"/>
              <a:cs typeface="Times New Roman" panose="02020603050405020304" pitchFamily="18" charset="0"/>
            </a:endParaRPr>
          </a:p>
          <a:p>
            <a:pPr marL="0" indent="0" algn="ctr">
              <a:buNone/>
            </a:pPr>
            <a:r>
              <a:rPr lang="en-IN" b="1" dirty="0">
                <a:latin typeface="Times New Roman" panose="02020603050405020304" pitchFamily="18" charset="0"/>
                <a:cs typeface="Times New Roman" panose="02020603050405020304" pitchFamily="18" charset="0"/>
              </a:rPr>
              <a:t> THANK YOU!</a:t>
            </a:r>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13</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Mini Project II Presentation</a:t>
            </a:r>
            <a:endParaRPr lang="en-IN" sz="1600" b="1" dirty="0">
              <a:latin typeface="Arial Narrow" panose="020B0606020202030204" pitchFamily="34"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366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2279</TotalTime>
  <Words>1376</Words>
  <Application>Microsoft Office PowerPoint</Application>
  <PresentationFormat>On-screen Show (4:3)</PresentationFormat>
  <Paragraphs>121</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Narrow</vt:lpstr>
      <vt:lpstr>Calibri</vt:lpstr>
      <vt:lpstr>Courier New</vt:lpstr>
      <vt:lpstr>Times New Roman</vt:lpstr>
      <vt:lpstr>Wingdings</vt:lpstr>
      <vt:lpstr>Office Theme</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Kevin Hickey</dc:creator>
  <cp:lastModifiedBy>KIRTI RACHKAR</cp:lastModifiedBy>
  <cp:revision>88</cp:revision>
  <dcterms:created xsi:type="dcterms:W3CDTF">2010-06-24T14:41:07Z</dcterms:created>
  <dcterms:modified xsi:type="dcterms:W3CDTF">2024-05-30T06:39:23Z</dcterms:modified>
</cp:coreProperties>
</file>